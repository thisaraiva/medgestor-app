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8803600" cy="34204275"/>
  <p:notesSz cx="6908800" cy="1193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20688" indent="36513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841375" indent="73025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262063" indent="109538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682750" indent="146050" algn="l" rtl="0" eaLnBrk="0" fontAlgn="base" hangingPunct="0">
      <a:spcBef>
        <a:spcPct val="0"/>
      </a:spcBef>
      <a:spcAft>
        <a:spcPct val="0"/>
      </a:spcAft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7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73">
          <p15:clr>
            <a:srgbClr val="A4A3A4"/>
          </p15:clr>
        </p15:guide>
        <p15:guide id="2" pos="90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CCFF"/>
    <a:srgbClr val="4D4D4D"/>
    <a:srgbClr val="003300"/>
    <a:srgbClr val="FF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 autoAdjust="0"/>
    <p:restoredTop sz="94660" autoAdjust="0"/>
  </p:normalViewPr>
  <p:slideViewPr>
    <p:cSldViewPr>
      <p:cViewPr>
        <p:scale>
          <a:sx n="20" d="100"/>
          <a:sy n="20" d="100"/>
        </p:scale>
        <p:origin x="1686" y="162"/>
      </p:cViewPr>
      <p:guideLst>
        <p:guide orient="horz" pos="10773"/>
        <p:guide pos="9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3AB3FA6-7D0D-68FA-B6E1-F43A5E9921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4025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ABAF7EC-06A4-7935-43FD-1C532CCA7AC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4775" y="0"/>
            <a:ext cx="2994025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44228E5-797C-EE17-2331-C9EA21F94B3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28400"/>
            <a:ext cx="2994025" cy="5730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623CBD06-717C-9C93-99B1-E7C95371680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4775" y="11328400"/>
            <a:ext cx="2994025" cy="5730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51698A2-AA92-4CFD-90A1-89C03C9B173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9DABCB1-BD02-317F-2875-952BD4DA83C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4025" cy="598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567BBC4-722B-D925-A493-5AE24C98F21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14775" y="0"/>
            <a:ext cx="2994025" cy="598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501C52D-CEC2-AD8F-7C45-1C9EC8F38F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68450" y="893763"/>
            <a:ext cx="3773488" cy="4479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8514159-2CD7-5A86-E6CA-9BDB8CD8BA9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5672138"/>
            <a:ext cx="5064125" cy="5372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703D58B2-901D-02E9-1AED-26A1602E62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39513"/>
            <a:ext cx="2994025" cy="598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5BAE65EE-7CCD-D960-E977-0B86DE07AA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4775" y="11339513"/>
            <a:ext cx="2994025" cy="598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3775" tIns="51888" rIns="103775" bIns="51888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C3618D8-B3B5-4BC2-8DFE-F765B802E86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20688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841375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262063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68275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105406" algn="l" defTabSz="84216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26487" algn="l" defTabSz="84216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47568" algn="l" defTabSz="84216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368650" algn="l" defTabSz="84216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5AC9F3A3-0FBA-A059-2A2F-07E6733B7B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4588F99-D8CC-45CD-8CF0-DFCF5D9F5E76}" type="slidenum">
              <a:rPr lang="en-US" altLang="pt-BR" sz="1400"/>
              <a:pPr/>
              <a:t>1</a:t>
            </a:fld>
            <a:endParaRPr lang="en-US" altLang="pt-BR" sz="14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8F6A367C-F9D0-A50C-0BB9-87F2B43D52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D71A0C1A-AF81-E1AC-1CB4-8044B290D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411" y="10626001"/>
            <a:ext cx="24482779" cy="7330744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20823" y="19381920"/>
            <a:ext cx="20161956" cy="8742098"/>
          </a:xfrm>
        </p:spPr>
        <p:txBody>
          <a:bodyPr/>
          <a:lstStyle>
            <a:lvl1pPr marL="0" indent="0" algn="ctr">
              <a:buNone/>
              <a:defRPr/>
            </a:lvl1pPr>
            <a:lvl2pPr marL="421081" indent="0" algn="ctr">
              <a:buNone/>
              <a:defRPr/>
            </a:lvl2pPr>
            <a:lvl3pPr marL="842162" indent="0" algn="ctr">
              <a:buNone/>
              <a:defRPr/>
            </a:lvl3pPr>
            <a:lvl4pPr marL="1263244" indent="0" algn="ctr">
              <a:buNone/>
              <a:defRPr/>
            </a:lvl4pPr>
            <a:lvl5pPr marL="1684325" indent="0" algn="ctr">
              <a:buNone/>
              <a:defRPr/>
            </a:lvl5pPr>
            <a:lvl6pPr marL="2105406" indent="0" algn="ctr">
              <a:buNone/>
              <a:defRPr/>
            </a:lvl6pPr>
            <a:lvl7pPr marL="2526487" indent="0" algn="ctr">
              <a:buNone/>
              <a:defRPr/>
            </a:lvl7pPr>
            <a:lvl8pPr marL="2947568" indent="0" algn="ctr">
              <a:buNone/>
              <a:defRPr/>
            </a:lvl8pPr>
            <a:lvl9pPr marL="336865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57F9B8-191B-F93A-C651-81FFE5EAC6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99309A-10B2-99F9-E462-13FD50246C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39C1EC7-F4D0-26DE-6E8D-3172F37B11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0BA1EA-BF5B-44F7-B762-2D1B34085D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774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99C3A3-FF64-28BA-ED3B-AA1F302D72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7F8A79-AC66-0BF1-E098-9B9E0AAED5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0080F9-D488-6788-641D-57A5DB1DEE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AA3195-5119-47DE-BE6F-B989843731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16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4712" y="21979666"/>
            <a:ext cx="24484189" cy="6792846"/>
          </a:xfrm>
        </p:spPr>
        <p:txBody>
          <a:bodyPr anchor="t"/>
          <a:lstStyle>
            <a:lvl1pPr algn="l">
              <a:defRPr sz="37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4712" y="14496853"/>
            <a:ext cx="24484189" cy="7482814"/>
          </a:xfrm>
        </p:spPr>
        <p:txBody>
          <a:bodyPr anchor="b"/>
          <a:lstStyle>
            <a:lvl1pPr marL="0" indent="0">
              <a:buNone/>
              <a:defRPr sz="1800"/>
            </a:lvl1pPr>
            <a:lvl2pPr marL="421081" indent="0">
              <a:buNone/>
              <a:defRPr sz="1700"/>
            </a:lvl2pPr>
            <a:lvl3pPr marL="842162" indent="0">
              <a:buNone/>
              <a:defRPr sz="1500"/>
            </a:lvl3pPr>
            <a:lvl4pPr marL="1263244" indent="0">
              <a:buNone/>
              <a:defRPr sz="1300"/>
            </a:lvl4pPr>
            <a:lvl5pPr marL="1684325" indent="0">
              <a:buNone/>
              <a:defRPr sz="1300"/>
            </a:lvl5pPr>
            <a:lvl6pPr marL="2105406" indent="0">
              <a:buNone/>
              <a:defRPr sz="1300"/>
            </a:lvl6pPr>
            <a:lvl7pPr marL="2526487" indent="0">
              <a:buNone/>
              <a:defRPr sz="1300"/>
            </a:lvl7pPr>
            <a:lvl8pPr marL="2947568" indent="0">
              <a:buNone/>
              <a:defRPr sz="1300"/>
            </a:lvl8pPr>
            <a:lvl9pPr marL="3368650" indent="0">
              <a:buNone/>
              <a:defRPr sz="13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FA4D44-610F-0BFC-BC07-BB78DBD33D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EC336C-21D2-A771-7A7B-F29867C1D3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ED7C8E-B58A-D235-9B5A-5B724B2513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6996EA-48A5-4A5B-837A-4517643682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825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160412" y="9883246"/>
            <a:ext cx="12173655" cy="2052181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469536" y="9883246"/>
            <a:ext cx="12173656" cy="2052181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7BB966-A562-4B50-3FAA-19CFA76BC7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E241BF-4F45-642C-B46C-A017453304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C85ACC-2249-565C-56C1-1D8E54ADDA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11B85B-2D13-4E91-BC46-35BB3A5CC1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545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0747" y="1369880"/>
            <a:ext cx="25922111" cy="5700713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40747" y="7656249"/>
            <a:ext cx="12725400" cy="319094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21081" indent="0">
              <a:buNone/>
              <a:defRPr sz="1800" b="1"/>
            </a:lvl2pPr>
            <a:lvl3pPr marL="842162" indent="0">
              <a:buNone/>
              <a:defRPr sz="1700" b="1"/>
            </a:lvl3pPr>
            <a:lvl4pPr marL="1263244" indent="0">
              <a:buNone/>
              <a:defRPr sz="1500" b="1"/>
            </a:lvl4pPr>
            <a:lvl5pPr marL="1684325" indent="0">
              <a:buNone/>
              <a:defRPr sz="1500" b="1"/>
            </a:lvl5pPr>
            <a:lvl6pPr marL="2105406" indent="0">
              <a:buNone/>
              <a:defRPr sz="1500" b="1"/>
            </a:lvl6pPr>
            <a:lvl7pPr marL="2526487" indent="0">
              <a:buNone/>
              <a:defRPr sz="1500" b="1"/>
            </a:lvl7pPr>
            <a:lvl8pPr marL="2947568" indent="0">
              <a:buNone/>
              <a:defRPr sz="1500" b="1"/>
            </a:lvl8pPr>
            <a:lvl9pPr marL="3368650" indent="0">
              <a:buNone/>
              <a:defRPr sz="15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40747" y="10847190"/>
            <a:ext cx="12725400" cy="1970742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1812" y="7656249"/>
            <a:ext cx="12731044" cy="319094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21081" indent="0">
              <a:buNone/>
              <a:defRPr sz="1800" b="1"/>
            </a:lvl2pPr>
            <a:lvl3pPr marL="842162" indent="0">
              <a:buNone/>
              <a:defRPr sz="1700" b="1"/>
            </a:lvl3pPr>
            <a:lvl4pPr marL="1263244" indent="0">
              <a:buNone/>
              <a:defRPr sz="1500" b="1"/>
            </a:lvl4pPr>
            <a:lvl5pPr marL="1684325" indent="0">
              <a:buNone/>
              <a:defRPr sz="1500" b="1"/>
            </a:lvl5pPr>
            <a:lvl6pPr marL="2105406" indent="0">
              <a:buNone/>
              <a:defRPr sz="1500" b="1"/>
            </a:lvl6pPr>
            <a:lvl7pPr marL="2526487" indent="0">
              <a:buNone/>
              <a:defRPr sz="1500" b="1"/>
            </a:lvl7pPr>
            <a:lvl8pPr marL="2947568" indent="0">
              <a:buNone/>
              <a:defRPr sz="1500" b="1"/>
            </a:lvl8pPr>
            <a:lvl9pPr marL="3368650" indent="0">
              <a:buNone/>
              <a:defRPr sz="15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1812" y="10847190"/>
            <a:ext cx="12731044" cy="1970742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931489C-65F2-446C-CAE1-E1DC1991F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76F843A-443B-7956-5FE2-8A05406637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C9EA54A-1E57-1975-B9FD-303809E85B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47D074-266A-4894-9603-BAD5AB797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136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C0EA0E1-BBB1-0129-E67B-23FE71E027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130F79F-0886-271E-D164-BBA0B96EE5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690CE9-FEE7-A990-4F1C-DC7FFB1F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7AE562-CBC0-46B3-B70D-61B682DAB6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336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A86CB54-C5F8-7DF9-1A07-69D245801C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599602C-F0B9-4CCC-CCDC-2F96F3E86C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4EE3C5A-B37E-C860-7164-978C498C15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4FF88-7D79-47AE-8CD2-084AF7076E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842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0747" y="1362342"/>
            <a:ext cx="9475611" cy="579497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62079" y="1362340"/>
            <a:ext cx="16100779" cy="29192273"/>
          </a:xfrm>
        </p:spPr>
        <p:txBody>
          <a:bodyPr/>
          <a:lstStyle>
            <a:lvl1pPr>
              <a:defRPr sz="2900"/>
            </a:lvl1pPr>
            <a:lvl2pPr>
              <a:defRPr sz="26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40747" y="7157313"/>
            <a:ext cx="9475611" cy="23397302"/>
          </a:xfrm>
        </p:spPr>
        <p:txBody>
          <a:bodyPr/>
          <a:lstStyle>
            <a:lvl1pPr marL="0" indent="0">
              <a:buNone/>
              <a:defRPr sz="1300"/>
            </a:lvl1pPr>
            <a:lvl2pPr marL="421081" indent="0">
              <a:buNone/>
              <a:defRPr sz="1100"/>
            </a:lvl2pPr>
            <a:lvl3pPr marL="842162" indent="0">
              <a:buNone/>
              <a:defRPr sz="900"/>
            </a:lvl3pPr>
            <a:lvl4pPr marL="1263244" indent="0">
              <a:buNone/>
              <a:defRPr sz="800"/>
            </a:lvl4pPr>
            <a:lvl5pPr marL="1684325" indent="0">
              <a:buNone/>
              <a:defRPr sz="800"/>
            </a:lvl5pPr>
            <a:lvl6pPr marL="2105406" indent="0">
              <a:buNone/>
              <a:defRPr sz="800"/>
            </a:lvl6pPr>
            <a:lvl7pPr marL="2526487" indent="0">
              <a:buNone/>
              <a:defRPr sz="800"/>
            </a:lvl7pPr>
            <a:lvl8pPr marL="2947568" indent="0">
              <a:buNone/>
              <a:defRPr sz="800"/>
            </a:lvl8pPr>
            <a:lvl9pPr marL="3368650" indent="0">
              <a:buNone/>
              <a:defRPr sz="8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904E24-3C19-8D19-2A29-23C94224CB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50106D-F062-22E8-E219-4AE553F505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2131CA-FD1B-DB62-DBD1-D5E78FD6D0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9037C0-EBC9-4DFB-BAED-344728E9CB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712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5858" y="23942744"/>
            <a:ext cx="17281877" cy="2826477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5858" y="3056467"/>
            <a:ext cx="17281877" cy="20521812"/>
          </a:xfrm>
        </p:spPr>
        <p:txBody>
          <a:bodyPr/>
          <a:lstStyle>
            <a:lvl1pPr marL="0" indent="0">
              <a:buNone/>
              <a:defRPr sz="2900"/>
            </a:lvl1pPr>
            <a:lvl2pPr marL="421081" indent="0">
              <a:buNone/>
              <a:defRPr sz="2600"/>
            </a:lvl2pPr>
            <a:lvl3pPr marL="842162" indent="0">
              <a:buNone/>
              <a:defRPr sz="2200"/>
            </a:lvl3pPr>
            <a:lvl4pPr marL="1263244" indent="0">
              <a:buNone/>
              <a:defRPr sz="1800"/>
            </a:lvl4pPr>
            <a:lvl5pPr marL="1684325" indent="0">
              <a:buNone/>
              <a:defRPr sz="1800"/>
            </a:lvl5pPr>
            <a:lvl6pPr marL="2105406" indent="0">
              <a:buNone/>
              <a:defRPr sz="1800"/>
            </a:lvl6pPr>
            <a:lvl7pPr marL="2526487" indent="0">
              <a:buNone/>
              <a:defRPr sz="1800"/>
            </a:lvl7pPr>
            <a:lvl8pPr marL="2947568" indent="0">
              <a:buNone/>
              <a:defRPr sz="1800"/>
            </a:lvl8pPr>
            <a:lvl9pPr marL="3368650" indent="0">
              <a:buNone/>
              <a:defRPr sz="18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5858" y="26769220"/>
            <a:ext cx="17281877" cy="4014126"/>
          </a:xfrm>
        </p:spPr>
        <p:txBody>
          <a:bodyPr/>
          <a:lstStyle>
            <a:lvl1pPr marL="0" indent="0">
              <a:buNone/>
              <a:defRPr sz="1300"/>
            </a:lvl1pPr>
            <a:lvl2pPr marL="421081" indent="0">
              <a:buNone/>
              <a:defRPr sz="1100"/>
            </a:lvl2pPr>
            <a:lvl3pPr marL="842162" indent="0">
              <a:buNone/>
              <a:defRPr sz="900"/>
            </a:lvl3pPr>
            <a:lvl4pPr marL="1263244" indent="0">
              <a:buNone/>
              <a:defRPr sz="800"/>
            </a:lvl4pPr>
            <a:lvl5pPr marL="1684325" indent="0">
              <a:buNone/>
              <a:defRPr sz="800"/>
            </a:lvl5pPr>
            <a:lvl6pPr marL="2105406" indent="0">
              <a:buNone/>
              <a:defRPr sz="800"/>
            </a:lvl6pPr>
            <a:lvl7pPr marL="2526487" indent="0">
              <a:buNone/>
              <a:defRPr sz="800"/>
            </a:lvl7pPr>
            <a:lvl8pPr marL="2947568" indent="0">
              <a:buNone/>
              <a:defRPr sz="800"/>
            </a:lvl8pPr>
            <a:lvl9pPr marL="3368650" indent="0">
              <a:buNone/>
              <a:defRPr sz="8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72C6A1-95A3-2603-8DF8-603A46B3AB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91C41D-7A1C-4F20-E35D-71EA8F6ECB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4C2C5F-623A-BA48-453C-7100CBEBA1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68806B-C385-4444-B0CA-AEB5DE72F9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836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959EB2-69E5-D250-3120-9FE856E512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D4111C-629E-5317-28B3-5626057E70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90A245-9BCF-5E63-FC19-0EF7400817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239C2E-57CB-4A26-8F6E-B98BA38889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412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523202" y="3042643"/>
            <a:ext cx="6119989" cy="273624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2160411" y="3042643"/>
            <a:ext cx="18227323" cy="273624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F08B68-CB4C-319D-23DB-5669062A86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381465-858C-F809-AB48-D930DA98EB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1F06C37-264C-4CE1-9940-A81D93CB94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AE6996-806D-4318-A054-5CC8FF3F04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522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698683-A2CA-6DE0-6294-EC2F1C455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60588" y="3043238"/>
            <a:ext cx="24482425" cy="570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82706" tIns="141354" rIns="282706" bIns="14135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D048FCE-3FF0-8762-F15D-369A021E5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60588" y="9882188"/>
            <a:ext cx="24482425" cy="2052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82706" tIns="141354" rIns="282706" bIns="1413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DAD183B-529A-4954-7CE2-9C0E5FFC96A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82706" tIns="141354" rIns="282706" bIns="141354" numCol="1" anchor="t" anchorCtr="0" compatLnSpc="1">
            <a:prstTxWarp prst="textNoShape">
              <a:avLst/>
            </a:prstTxWarp>
          </a:bodyPr>
          <a:lstStyle>
            <a:lvl1pPr>
              <a:defRPr sz="4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0256A2A-D11F-4060-351B-E6D6ED903E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82706" tIns="141354" rIns="282706" bIns="141354" numCol="1" anchor="t" anchorCtr="0" compatLnSpc="1">
            <a:prstTxWarp prst="textNoShape">
              <a:avLst/>
            </a:prstTxWarp>
          </a:bodyPr>
          <a:lstStyle>
            <a:lvl1pPr algn="ctr">
              <a:defRPr sz="4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4F13F3D-8E97-7D8D-1863-C2BF3296DE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82706" tIns="141354" rIns="282706" bIns="141354" numCol="1" anchor="t" anchorCtr="0" compatLnSpc="1">
            <a:prstTxWarp prst="textNoShape">
              <a:avLst/>
            </a:prstTxWarp>
          </a:bodyPr>
          <a:lstStyle>
            <a:lvl1pPr algn="r">
              <a:defRPr sz="4400"/>
            </a:lvl1pPr>
          </a:lstStyle>
          <a:p>
            <a:fld id="{DFDD073A-59B8-456E-989A-CF5105B297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824163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2824163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itchFamily="18" charset="0"/>
        </a:defRPr>
      </a:lvl2pPr>
      <a:lvl3pPr algn="ctr" defTabSz="2824163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itchFamily="18" charset="0"/>
        </a:defRPr>
      </a:lvl3pPr>
      <a:lvl4pPr algn="ctr" defTabSz="2824163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itchFamily="18" charset="0"/>
        </a:defRPr>
      </a:lvl4pPr>
      <a:lvl5pPr algn="ctr" defTabSz="2824163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itchFamily="18" charset="0"/>
        </a:defRPr>
      </a:lvl5pPr>
      <a:lvl6pPr marL="421081" algn="ctr" defTabSz="2824753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itchFamily="18" charset="0"/>
        </a:defRPr>
      </a:lvl6pPr>
      <a:lvl7pPr marL="842162" algn="ctr" defTabSz="2824753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itchFamily="18" charset="0"/>
        </a:defRPr>
      </a:lvl7pPr>
      <a:lvl8pPr marL="1263244" algn="ctr" defTabSz="2824753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itchFamily="18" charset="0"/>
        </a:defRPr>
      </a:lvl8pPr>
      <a:lvl9pPr marL="1684325" algn="ctr" defTabSz="2824753" rtl="0" eaLnBrk="0" fontAlgn="base" hangingPunct="0">
        <a:spcBef>
          <a:spcPct val="0"/>
        </a:spcBef>
        <a:spcAft>
          <a:spcPct val="0"/>
        </a:spcAft>
        <a:defRPr sz="13500">
          <a:solidFill>
            <a:schemeClr val="tx2"/>
          </a:solidFill>
          <a:latin typeface="Times New Roman" pitchFamily="18" charset="0"/>
        </a:defRPr>
      </a:lvl9pPr>
    </p:titleStyle>
    <p:bodyStyle>
      <a:lvl1pPr marL="1057275" indent="-1057275" algn="l" defTabSz="2824163" rtl="0" eaLnBrk="0" fontAlgn="base" hangingPunct="0">
        <a:spcBef>
          <a:spcPct val="20000"/>
        </a:spcBef>
        <a:spcAft>
          <a:spcPct val="0"/>
        </a:spcAft>
        <a:buChar char="•"/>
        <a:defRPr sz="10000">
          <a:solidFill>
            <a:schemeClr val="tx1"/>
          </a:solidFill>
          <a:latin typeface="+mn-lt"/>
          <a:ea typeface="+mn-ea"/>
          <a:cs typeface="+mn-cs"/>
        </a:defRPr>
      </a:lvl1pPr>
      <a:lvl2pPr marL="2293938" indent="-879475" algn="l" defTabSz="2824163" rtl="0" eaLnBrk="0" fontAlgn="base" hangingPunct="0">
        <a:spcBef>
          <a:spcPct val="20000"/>
        </a:spcBef>
        <a:spcAft>
          <a:spcPct val="0"/>
        </a:spcAft>
        <a:buChar char="–"/>
        <a:defRPr sz="8600">
          <a:solidFill>
            <a:schemeClr val="tx1"/>
          </a:solidFill>
          <a:latin typeface="+mn-lt"/>
        </a:defRPr>
      </a:lvl2pPr>
      <a:lvl3pPr marL="3532188" indent="-706438" algn="l" defTabSz="2824163" rtl="0" eaLnBrk="0" fontAlgn="base" hangingPunct="0">
        <a:spcBef>
          <a:spcPct val="20000"/>
        </a:spcBef>
        <a:spcAft>
          <a:spcPct val="0"/>
        </a:spcAft>
        <a:buChar char="•"/>
        <a:defRPr sz="7400">
          <a:solidFill>
            <a:schemeClr val="tx1"/>
          </a:solidFill>
          <a:latin typeface="+mn-lt"/>
        </a:defRPr>
      </a:lvl3pPr>
      <a:lvl4pPr marL="4946650" indent="-706438" algn="l" defTabSz="2824163" rtl="0" eaLnBrk="0" fontAlgn="base" hangingPunct="0">
        <a:spcBef>
          <a:spcPct val="20000"/>
        </a:spcBef>
        <a:spcAft>
          <a:spcPct val="0"/>
        </a:spcAft>
        <a:buChar char="–"/>
        <a:defRPr sz="6200">
          <a:solidFill>
            <a:schemeClr val="tx1"/>
          </a:solidFill>
          <a:latin typeface="+mn-lt"/>
        </a:defRPr>
      </a:lvl4pPr>
      <a:lvl5pPr marL="6362700" indent="-706438" algn="l" defTabSz="2824163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5pPr>
      <a:lvl6pPr marL="6784086" indent="-707650" algn="l" defTabSz="2824753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6pPr>
      <a:lvl7pPr marL="7205167" indent="-707650" algn="l" defTabSz="2824753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7pPr>
      <a:lvl8pPr marL="7626248" indent="-707650" algn="l" defTabSz="2824753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8pPr>
      <a:lvl9pPr marL="8047330" indent="-707650" algn="l" defTabSz="2824753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8421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1081" algn="l" defTabSz="8421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42162" algn="l" defTabSz="8421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63244" algn="l" defTabSz="8421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84325" algn="l" defTabSz="8421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05406" algn="l" defTabSz="8421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26487" algn="l" defTabSz="8421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47568" algn="l" defTabSz="8421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68650" algn="l" defTabSz="8421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secretary@medgestor.com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react.dev/learn" TargetMode="Externa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docker.com/manuals/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developer.mozilla.org/en-US/docs/Web/JavaScript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nodejs.org/docs/latest/api/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Rectangle 3678">
            <a:extLst>
              <a:ext uri="{FF2B5EF4-FFF2-40B4-BE49-F238E27FC236}">
                <a16:creationId xmlns:a16="http://schemas.microsoft.com/office/drawing/2014/main" id="{086E1997-98FA-4826-E91C-DEB9C448C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3138" y="5691188"/>
            <a:ext cx="12558712" cy="9875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9888" tIns="134944" rIns="269888" bIns="134944" anchor="t">
            <a:spAutoFit/>
          </a:bodyPr>
          <a:lstStyle>
            <a:lvl1pPr indent="3302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pt-BR" altLang="pt-BR" sz="2600" dirty="0">
                <a:latin typeface="Arial"/>
                <a:cs typeface="Arial"/>
              </a:rPr>
              <a:t>Todas as funcionalidades propostas — cadastro de usuários com três perfis (administrador, médico e secretária), gestão completa de pacientes, agendamento de consultas, prontuário eletrônico e emissão de receitas padronizadas — foram implementadas e encontram-se em produção real, acessível em https://medgestor-frontend-node.onrender.com. Os dados exibidos são totalmente fictícios, gerados automaticamente pelos </a:t>
            </a:r>
            <a:r>
              <a:rPr lang="pt-BR" altLang="pt-BR" sz="2600" dirty="0" err="1">
                <a:latin typeface="Arial"/>
                <a:cs typeface="Arial"/>
              </a:rPr>
              <a:t>seeders</a:t>
            </a:r>
            <a:r>
              <a:rPr lang="pt-BR" altLang="pt-BR" sz="2600" dirty="0">
                <a:latin typeface="Arial"/>
                <a:cs typeface="Arial"/>
              </a:rPr>
              <a:t> com a biblioteca @faker-js/faker, garantindo anonimato e conformidade com a LGPD. </a:t>
            </a:r>
          </a:p>
          <a:p>
            <a:pPr algn="just"/>
            <a:r>
              <a:rPr lang="pt-BR" altLang="pt-BR" sz="2600" dirty="0">
                <a:latin typeface="Arial"/>
                <a:cs typeface="Arial"/>
              </a:rPr>
              <a:t>O projeto segue boas práticas de engenharia de software: separação clara de responsabilidades (</a:t>
            </a:r>
            <a:r>
              <a:rPr lang="pt-BR" altLang="pt-BR" sz="2600" dirty="0" err="1">
                <a:latin typeface="Arial"/>
                <a:cs typeface="Arial"/>
              </a:rPr>
              <a:t>Routes</a:t>
            </a:r>
            <a:r>
              <a:rPr lang="pt-BR" altLang="pt-BR" sz="2600" dirty="0">
                <a:latin typeface="Arial"/>
                <a:cs typeface="Arial"/>
              </a:rPr>
              <a:t> → </a:t>
            </a:r>
            <a:r>
              <a:rPr lang="pt-BR" altLang="pt-BR" sz="2600" dirty="0" err="1">
                <a:latin typeface="Arial"/>
                <a:cs typeface="Arial"/>
              </a:rPr>
              <a:t>Controllers</a:t>
            </a:r>
            <a:r>
              <a:rPr lang="pt-BR" altLang="pt-BR" sz="2600" dirty="0">
                <a:latin typeface="Arial"/>
                <a:cs typeface="Arial"/>
              </a:rPr>
              <a:t> → Services → Models), autenticação </a:t>
            </a:r>
            <a:r>
              <a:rPr lang="pt-BR" altLang="pt-BR" sz="2600" dirty="0" err="1">
                <a:latin typeface="Arial"/>
                <a:cs typeface="Arial"/>
              </a:rPr>
              <a:t>stateless</a:t>
            </a:r>
            <a:r>
              <a:rPr lang="pt-BR" altLang="pt-BR" sz="2600" dirty="0">
                <a:latin typeface="Arial"/>
                <a:cs typeface="Arial"/>
              </a:rPr>
              <a:t> via JWT, </a:t>
            </a:r>
            <a:r>
              <a:rPr lang="pt-BR" altLang="pt-BR" sz="2600" dirty="0" err="1">
                <a:latin typeface="Arial"/>
                <a:cs typeface="Arial"/>
              </a:rPr>
              <a:t>hash</a:t>
            </a:r>
            <a:r>
              <a:rPr lang="pt-BR" altLang="pt-BR" sz="2600" dirty="0">
                <a:latin typeface="Arial"/>
                <a:cs typeface="Arial"/>
              </a:rPr>
              <a:t> de senhas com </a:t>
            </a:r>
            <a:r>
              <a:rPr lang="pt-BR" altLang="pt-BR" sz="2600" dirty="0" err="1">
                <a:latin typeface="Arial"/>
                <a:cs typeface="Arial"/>
              </a:rPr>
              <a:t>bcryptjs</a:t>
            </a:r>
            <a:r>
              <a:rPr lang="pt-BR" altLang="pt-BR" sz="2600" dirty="0">
                <a:latin typeface="Arial"/>
                <a:cs typeface="Arial"/>
              </a:rPr>
              <a:t> (12 rounds), validação robusta com </a:t>
            </a:r>
            <a:r>
              <a:rPr lang="pt-BR" altLang="pt-BR" sz="2600" dirty="0" err="1">
                <a:latin typeface="Arial"/>
                <a:cs typeface="Arial"/>
              </a:rPr>
              <a:t>Joi</a:t>
            </a:r>
            <a:r>
              <a:rPr lang="pt-BR" altLang="pt-BR" sz="2600" dirty="0">
                <a:latin typeface="Arial"/>
                <a:cs typeface="Arial"/>
              </a:rPr>
              <a:t>, controle de acesso baseado em roles (RBAC) e tratamento centralizado de erros. </a:t>
            </a:r>
          </a:p>
          <a:p>
            <a:pPr algn="just"/>
            <a:r>
              <a:rPr lang="pt-BR" altLang="pt-BR" sz="2600" dirty="0">
                <a:latin typeface="Arial"/>
                <a:cs typeface="Arial"/>
              </a:rPr>
              <a:t>No desenvolvimento foram aplicados testes de integração automatizados com </a:t>
            </a:r>
            <a:r>
              <a:rPr lang="pt-BR" altLang="pt-BR" sz="2600" dirty="0" err="1">
                <a:latin typeface="Arial"/>
                <a:cs typeface="Arial"/>
              </a:rPr>
              <a:t>Jest</a:t>
            </a:r>
            <a:r>
              <a:rPr lang="pt-BR" altLang="pt-BR" sz="2600" dirty="0">
                <a:latin typeface="Arial"/>
                <a:cs typeface="Arial"/>
              </a:rPr>
              <a:t> e </a:t>
            </a:r>
            <a:r>
              <a:rPr lang="pt-BR" altLang="pt-BR" sz="2600" dirty="0" err="1">
                <a:latin typeface="Arial"/>
                <a:cs typeface="Arial"/>
              </a:rPr>
              <a:t>Supertest</a:t>
            </a:r>
            <a:r>
              <a:rPr lang="pt-BR" altLang="pt-BR" sz="2600" dirty="0">
                <a:latin typeface="Arial"/>
                <a:cs typeface="Arial"/>
              </a:rPr>
              <a:t> (abordagem TDD parcial + cobertura completa dos </a:t>
            </a:r>
            <a:r>
              <a:rPr lang="pt-BR" altLang="pt-BR" sz="2600" dirty="0" err="1">
                <a:latin typeface="Arial"/>
                <a:cs typeface="Arial"/>
              </a:rPr>
              <a:t>endpoints</a:t>
            </a:r>
            <a:r>
              <a:rPr lang="pt-BR" altLang="pt-BR" sz="2600" dirty="0">
                <a:latin typeface="Arial"/>
                <a:cs typeface="Arial"/>
              </a:rPr>
              <a:t> críticos), </a:t>
            </a:r>
            <a:r>
              <a:rPr lang="pt-BR" altLang="pt-BR" sz="2600" dirty="0" err="1">
                <a:latin typeface="Arial"/>
                <a:cs typeface="Arial"/>
              </a:rPr>
              <a:t>lint</a:t>
            </a:r>
            <a:r>
              <a:rPr lang="pt-BR" altLang="pt-BR" sz="2600" dirty="0">
                <a:latin typeface="Arial"/>
                <a:cs typeface="Arial"/>
              </a:rPr>
              <a:t> com </a:t>
            </a:r>
            <a:r>
              <a:rPr lang="pt-BR" altLang="pt-BR" sz="2600" dirty="0" err="1">
                <a:latin typeface="Arial"/>
                <a:cs typeface="Arial"/>
              </a:rPr>
              <a:t>ESLint</a:t>
            </a:r>
            <a:r>
              <a:rPr lang="pt-BR" altLang="pt-BR" sz="2600" dirty="0">
                <a:latin typeface="Arial"/>
                <a:cs typeface="Arial"/>
              </a:rPr>
              <a:t> e integração contínua via GitHub </a:t>
            </a:r>
            <a:r>
              <a:rPr lang="pt-BR" altLang="pt-BR" sz="2600" dirty="0" err="1">
                <a:latin typeface="Arial"/>
                <a:cs typeface="Arial"/>
              </a:rPr>
              <a:t>Actions</a:t>
            </a:r>
            <a:r>
              <a:rPr lang="pt-BR" altLang="pt-BR" sz="2600" dirty="0">
                <a:latin typeface="Arial"/>
                <a:cs typeface="Arial"/>
              </a:rPr>
              <a:t> (</a:t>
            </a:r>
            <a:r>
              <a:rPr lang="pt-BR" altLang="pt-BR" sz="2600" dirty="0" err="1">
                <a:latin typeface="Arial"/>
                <a:cs typeface="Arial"/>
              </a:rPr>
              <a:t>lint</a:t>
            </a:r>
            <a:r>
              <a:rPr lang="pt-BR" altLang="pt-BR" sz="2600" dirty="0">
                <a:latin typeface="Arial"/>
                <a:cs typeface="Arial"/>
              </a:rPr>
              <a:t> + testes em todo </a:t>
            </a:r>
            <a:r>
              <a:rPr lang="pt-BR" altLang="pt-BR" sz="2600" dirty="0" err="1">
                <a:latin typeface="Arial"/>
                <a:cs typeface="Arial"/>
              </a:rPr>
              <a:t>push</a:t>
            </a:r>
            <a:r>
              <a:rPr lang="pt-BR" altLang="pt-BR" sz="2600" dirty="0">
                <a:latin typeface="Arial"/>
                <a:cs typeface="Arial"/>
              </a:rPr>
              <a:t>/PR). O versionamento utilizou </a:t>
            </a:r>
            <a:r>
              <a:rPr lang="pt-BR" altLang="pt-BR" sz="2600" dirty="0" err="1">
                <a:latin typeface="Arial"/>
                <a:cs typeface="Arial"/>
              </a:rPr>
              <a:t>Git</a:t>
            </a:r>
            <a:r>
              <a:rPr lang="pt-BR" altLang="pt-BR" sz="2600" dirty="0">
                <a:latin typeface="Arial"/>
                <a:cs typeface="Arial"/>
              </a:rPr>
              <a:t> Flow simplificado. A automação CI/CD está totalmente configurada: todo </a:t>
            </a:r>
            <a:r>
              <a:rPr lang="pt-BR" altLang="pt-BR" sz="2600" dirty="0" err="1">
                <a:latin typeface="Arial"/>
                <a:cs typeface="Arial"/>
              </a:rPr>
              <a:t>commit</a:t>
            </a:r>
            <a:r>
              <a:rPr lang="pt-BR" altLang="pt-BR" sz="2600" dirty="0">
                <a:latin typeface="Arial"/>
                <a:cs typeface="Arial"/>
              </a:rPr>
              <a:t> na </a:t>
            </a:r>
            <a:r>
              <a:rPr lang="pt-BR" altLang="pt-BR" sz="2600" dirty="0" err="1">
                <a:latin typeface="Arial"/>
                <a:cs typeface="Arial"/>
              </a:rPr>
              <a:t>branch</a:t>
            </a:r>
            <a:r>
              <a:rPr lang="pt-BR" altLang="pt-BR" sz="2600" dirty="0">
                <a:latin typeface="Arial"/>
                <a:cs typeface="Arial"/>
              </a:rPr>
              <a:t> </a:t>
            </a:r>
            <a:r>
              <a:rPr lang="pt-BR" altLang="pt-BR" sz="2600" dirty="0" err="1">
                <a:latin typeface="Arial"/>
                <a:cs typeface="Arial"/>
              </a:rPr>
              <a:t>main</a:t>
            </a:r>
            <a:r>
              <a:rPr lang="pt-BR" altLang="pt-BR" sz="2600" dirty="0">
                <a:latin typeface="Arial"/>
                <a:cs typeface="Arial"/>
              </a:rPr>
              <a:t> executa verifica </a:t>
            </a:r>
            <a:r>
              <a:rPr lang="pt-BR" altLang="pt-BR" sz="2600" dirty="0" err="1">
                <a:latin typeface="Arial"/>
                <a:cs typeface="Arial"/>
              </a:rPr>
              <a:t>ESLint</a:t>
            </a:r>
            <a:r>
              <a:rPr lang="pt-BR" altLang="pt-BR" sz="2600" dirty="0">
                <a:latin typeface="Arial"/>
                <a:cs typeface="Arial"/>
              </a:rPr>
              <a:t>, testes de integração, build e realiza </a:t>
            </a:r>
            <a:r>
              <a:rPr lang="pt-BR" altLang="pt-BR" sz="2600" dirty="0" err="1">
                <a:latin typeface="Arial"/>
                <a:cs typeface="Arial"/>
              </a:rPr>
              <a:t>deploy</a:t>
            </a:r>
            <a:r>
              <a:rPr lang="pt-BR" altLang="pt-BR" sz="2600" dirty="0">
                <a:latin typeface="Arial"/>
                <a:cs typeface="Arial"/>
              </a:rPr>
              <a:t> automático nos serviços do Render.com (</a:t>
            </a:r>
            <a:r>
              <a:rPr lang="pt-BR" altLang="pt-BR" sz="2600" dirty="0" err="1">
                <a:latin typeface="Arial"/>
                <a:cs typeface="Arial"/>
              </a:rPr>
              <a:t>backend</a:t>
            </a:r>
            <a:r>
              <a:rPr lang="pt-BR" altLang="pt-BR" sz="2600" dirty="0">
                <a:latin typeface="Arial"/>
                <a:cs typeface="Arial"/>
              </a:rPr>
              <a:t>, </a:t>
            </a:r>
            <a:r>
              <a:rPr lang="pt-BR" altLang="pt-BR" sz="2600" dirty="0" err="1">
                <a:latin typeface="Arial"/>
                <a:cs typeface="Arial"/>
              </a:rPr>
              <a:t>frontend</a:t>
            </a:r>
            <a:r>
              <a:rPr lang="pt-BR" altLang="pt-BR" sz="2600" dirty="0">
                <a:latin typeface="Arial"/>
                <a:cs typeface="Arial"/>
              </a:rPr>
              <a:t> e banco PostgreSQL 17). O ambiente de implantação em nuvem utiliza Render.com Free </a:t>
            </a:r>
            <a:r>
              <a:rPr lang="pt-BR" altLang="pt-BR" sz="2600" dirty="0" err="1">
                <a:latin typeface="Arial"/>
                <a:cs typeface="Arial"/>
              </a:rPr>
              <a:t>Tier</a:t>
            </a:r>
            <a:r>
              <a:rPr lang="pt-BR" altLang="pt-BR" sz="2600" dirty="0">
                <a:latin typeface="Arial"/>
                <a:cs typeface="Arial"/>
              </a:rPr>
              <a:t> com HTTPS automático (</a:t>
            </a:r>
            <a:r>
              <a:rPr lang="pt-BR" altLang="pt-BR" sz="2600" dirty="0" err="1">
                <a:latin typeface="Arial"/>
                <a:cs typeface="Arial"/>
              </a:rPr>
              <a:t>Let’s</a:t>
            </a:r>
            <a:r>
              <a:rPr lang="pt-BR" altLang="pt-BR" sz="2600" dirty="0">
                <a:latin typeface="Arial"/>
                <a:cs typeface="Arial"/>
              </a:rPr>
              <a:t> </a:t>
            </a:r>
            <a:r>
              <a:rPr lang="pt-BR" altLang="pt-BR" sz="2600" dirty="0" err="1">
                <a:latin typeface="Arial"/>
                <a:cs typeface="Arial"/>
              </a:rPr>
              <a:t>Encrypt</a:t>
            </a:r>
            <a:r>
              <a:rPr lang="pt-BR" altLang="pt-BR" sz="2600" dirty="0">
                <a:latin typeface="Arial"/>
                <a:cs typeface="Arial"/>
              </a:rPr>
              <a:t>) e PostgreSQL gerenciado. A Figura 3 mostra a tela principal de agendamento em produção com dados fictícios. O sistema está funcional pronto para uso imediato em consultórios médicos e como portfólio profissional de alto nível.</a:t>
            </a:r>
          </a:p>
        </p:txBody>
      </p:sp>
      <p:sp>
        <p:nvSpPr>
          <p:cNvPr id="2050" name="Rectangle 233">
            <a:extLst>
              <a:ext uri="{FF2B5EF4-FFF2-40B4-BE49-F238E27FC236}">
                <a16:creationId xmlns:a16="http://schemas.microsoft.com/office/drawing/2014/main" id="{5433615B-E3FB-CEF8-8835-EC5727C8A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64263" y="22058313"/>
            <a:ext cx="0" cy="230187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 sz="1500"/>
          </a:p>
        </p:txBody>
      </p:sp>
      <p:sp>
        <p:nvSpPr>
          <p:cNvPr id="2051" name="Line 606">
            <a:extLst>
              <a:ext uri="{FF2B5EF4-FFF2-40B4-BE49-F238E27FC236}">
                <a16:creationId xmlns:a16="http://schemas.microsoft.com/office/drawing/2014/main" id="{99ED2681-7542-8DB7-8E86-36D4EF9D8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7788" y="17387888"/>
            <a:ext cx="0" cy="5699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2" name="Line 618">
            <a:extLst>
              <a:ext uri="{FF2B5EF4-FFF2-40B4-BE49-F238E27FC236}">
                <a16:creationId xmlns:a16="http://schemas.microsoft.com/office/drawing/2014/main" id="{EFD20D44-FF18-D2F5-2CF4-B5473E362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62038" y="17387888"/>
            <a:ext cx="0" cy="5699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3" name="Line 723">
            <a:extLst>
              <a:ext uri="{FF2B5EF4-FFF2-40B4-BE49-F238E27FC236}">
                <a16:creationId xmlns:a16="http://schemas.microsoft.com/office/drawing/2014/main" id="{E5CD1EE2-D572-E218-ED7D-1B63997573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7788" y="17957800"/>
            <a:ext cx="0" cy="6683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4" name="Line 743">
            <a:extLst>
              <a:ext uri="{FF2B5EF4-FFF2-40B4-BE49-F238E27FC236}">
                <a16:creationId xmlns:a16="http://schemas.microsoft.com/office/drawing/2014/main" id="{A39BE6B3-F009-B340-764B-DB7CE0449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62038" y="17957800"/>
            <a:ext cx="0" cy="6683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5" name="Line 757">
            <a:extLst>
              <a:ext uri="{FF2B5EF4-FFF2-40B4-BE49-F238E27FC236}">
                <a16:creationId xmlns:a16="http://schemas.microsoft.com/office/drawing/2014/main" id="{F8C91079-42D7-9978-B556-268DCCCB4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7788" y="18626138"/>
            <a:ext cx="0" cy="6683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6" name="Line 777">
            <a:extLst>
              <a:ext uri="{FF2B5EF4-FFF2-40B4-BE49-F238E27FC236}">
                <a16:creationId xmlns:a16="http://schemas.microsoft.com/office/drawing/2014/main" id="{205D2B31-3973-5469-159B-0C4B90C499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62038" y="18626138"/>
            <a:ext cx="0" cy="6683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7" name="Line 778">
            <a:extLst>
              <a:ext uri="{FF2B5EF4-FFF2-40B4-BE49-F238E27FC236}">
                <a16:creationId xmlns:a16="http://schemas.microsoft.com/office/drawing/2014/main" id="{3BC443CD-859A-6DC3-8C6B-1B7B69DBBA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7788" y="19294475"/>
            <a:ext cx="0" cy="7302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8" name="Line 779">
            <a:extLst>
              <a:ext uri="{FF2B5EF4-FFF2-40B4-BE49-F238E27FC236}">
                <a16:creationId xmlns:a16="http://schemas.microsoft.com/office/drawing/2014/main" id="{C13717CB-14F2-BEBE-1D9D-57C57941D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62038" y="19294475"/>
            <a:ext cx="0" cy="7302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4216" tIns="42108" rIns="84216" bIns="42108"/>
          <a:lstStyle/>
          <a:p>
            <a:endParaRPr lang="pt-BR"/>
          </a:p>
        </p:txBody>
      </p:sp>
      <p:sp>
        <p:nvSpPr>
          <p:cNvPr id="2059" name="Text Box 77">
            <a:extLst>
              <a:ext uri="{FF2B5EF4-FFF2-40B4-BE49-F238E27FC236}">
                <a16:creationId xmlns:a16="http://schemas.microsoft.com/office/drawing/2014/main" id="{1E4F3A46-419E-9FE9-7BE4-13EF6CE66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150" y="5459413"/>
            <a:ext cx="6913563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300" b="1">
                <a:solidFill>
                  <a:srgbClr val="C00000"/>
                </a:solidFill>
                <a:latin typeface="Arial" panose="020B0604020202020204" pitchFamily="34" charset="0"/>
              </a:rPr>
              <a:t>INTRODUÇÃO</a:t>
            </a:r>
          </a:p>
        </p:txBody>
      </p:sp>
      <p:sp>
        <p:nvSpPr>
          <p:cNvPr id="2060" name="Text Box 106">
            <a:extLst>
              <a:ext uri="{FF2B5EF4-FFF2-40B4-BE49-F238E27FC236}">
                <a16:creationId xmlns:a16="http://schemas.microsoft.com/office/drawing/2014/main" id="{F17372ED-287D-57CD-7751-F75D18655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5288" y="11536363"/>
            <a:ext cx="126523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>
            <a:lvl1pPr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300" b="1" dirty="0">
                <a:solidFill>
                  <a:srgbClr val="C00000"/>
                </a:solidFill>
                <a:latin typeface="Arial"/>
                <a:cs typeface="Arial"/>
              </a:rPr>
              <a:t>DESENVOLVIMENTO</a:t>
            </a:r>
          </a:p>
        </p:txBody>
      </p:sp>
      <p:sp>
        <p:nvSpPr>
          <p:cNvPr id="2061" name="Rectangle 2">
            <a:extLst>
              <a:ext uri="{FF2B5EF4-FFF2-40B4-BE49-F238E27FC236}">
                <a16:creationId xmlns:a16="http://schemas.microsoft.com/office/drawing/2014/main" id="{530F423F-B0D2-34D5-EFBC-59BC480D1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73038"/>
            <a:ext cx="196770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pt-BR" altLang="pt-BR" sz="6000" b="1" dirty="0">
                <a:solidFill>
                  <a:srgbClr val="C00000"/>
                </a:solidFill>
                <a:latin typeface="Arial"/>
                <a:cs typeface="Arial"/>
              </a:rPr>
              <a:t>TÍTULO</a:t>
            </a:r>
            <a:endParaRPr lang="pt-BR" dirty="0"/>
          </a:p>
        </p:txBody>
      </p:sp>
      <p:sp>
        <p:nvSpPr>
          <p:cNvPr id="2062" name="Rectangle 11">
            <a:extLst>
              <a:ext uri="{FF2B5EF4-FFF2-40B4-BE49-F238E27FC236}">
                <a16:creationId xmlns:a16="http://schemas.microsoft.com/office/drawing/2014/main" id="{3F97047F-4E8F-F889-3662-E38FCCCC4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57750"/>
            <a:ext cx="28803600" cy="261938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>
              <a:solidFill>
                <a:srgbClr val="C00000"/>
              </a:solidFill>
            </a:endParaRPr>
          </a:p>
        </p:txBody>
      </p:sp>
      <p:sp>
        <p:nvSpPr>
          <p:cNvPr id="2063" name="Rectangle 99">
            <a:extLst>
              <a:ext uri="{FF2B5EF4-FFF2-40B4-BE49-F238E27FC236}">
                <a16:creationId xmlns:a16="http://schemas.microsoft.com/office/drawing/2014/main" id="{95C8810C-E452-9B92-524E-7883BAB45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0438" y="2089150"/>
            <a:ext cx="16456025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>
            <a:lvl1pPr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561975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561975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_tradnl" altLang="pt-BR" sz="3700" b="1" i="1" dirty="0">
                <a:latin typeface="Arial"/>
                <a:cs typeface="Arial"/>
              </a:rPr>
              <a:t>Thiago de Freitas Saraiva </a:t>
            </a:r>
          </a:p>
          <a:p>
            <a:pPr algn="ctr"/>
            <a:r>
              <a:rPr lang="es-ES_tradnl" altLang="pt-BR" sz="3200" b="1" i="1">
                <a:solidFill>
                  <a:srgbClr val="000099"/>
                </a:solidFill>
                <a:latin typeface="Arial"/>
                <a:cs typeface="Arial"/>
              </a:rPr>
              <a:t>thiago</a:t>
            </a:r>
            <a:r>
              <a:rPr lang="es-ES_tradnl" altLang="pt-BR" sz="3200" b="1" i="1" dirty="0" err="1">
                <a:solidFill>
                  <a:srgbClr val="000099"/>
                </a:solidFill>
                <a:latin typeface="Arial"/>
                <a:cs typeface="Arial"/>
              </a:rPr>
              <a:t>.</a:t>
            </a:r>
            <a:r>
              <a:rPr lang="es-ES_tradnl" altLang="pt-BR" sz="3200" b="1" i="1" err="1">
                <a:solidFill>
                  <a:srgbClr val="000099"/>
                </a:solidFill>
                <a:latin typeface="Arial"/>
                <a:cs typeface="Arial"/>
              </a:rPr>
              <a:t>saraiva</a:t>
            </a:r>
            <a:r>
              <a:rPr lang="es-ES_tradnl" altLang="pt-BR" sz="3200" b="1" i="1">
                <a:solidFill>
                  <a:srgbClr val="000099"/>
                </a:solidFill>
                <a:latin typeface="Arial"/>
                <a:cs typeface="Arial"/>
              </a:rPr>
              <a:t>@catolicasc.edu.br</a:t>
            </a:r>
            <a:endParaRPr lang="es-ES_tradnl" altLang="pt-BR" sz="3200" b="1" i="1" dirty="0">
              <a:solidFill>
                <a:srgbClr val="000099"/>
              </a:solidFill>
              <a:latin typeface="Arial"/>
              <a:cs typeface="Arial"/>
            </a:endParaRPr>
          </a:p>
          <a:p>
            <a:pPr algn="ctr"/>
            <a:r>
              <a:rPr lang="pt-BR" altLang="pt-BR" sz="2800" b="1" i="1" dirty="0">
                <a:solidFill>
                  <a:srgbClr val="C00000"/>
                </a:solidFill>
                <a:latin typeface="Arial"/>
                <a:cs typeface="Arial"/>
              </a:rPr>
              <a:t>Graduando do curso de Bacharelado em Engenharia de Software da Católica de SC</a:t>
            </a:r>
            <a:endParaRPr lang="pt-BR" altLang="pt-BR" sz="2800" b="1" i="1" baseline="3000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2064" name="Text Box 957">
            <a:extLst>
              <a:ext uri="{FF2B5EF4-FFF2-40B4-BE49-F238E27FC236}">
                <a16:creationId xmlns:a16="http://schemas.microsoft.com/office/drawing/2014/main" id="{6677B341-EAE7-26E1-6F1D-0A4FF77A0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794" y="28887673"/>
            <a:ext cx="6916737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300" b="1" dirty="0">
                <a:solidFill>
                  <a:srgbClr val="C00000"/>
                </a:solidFill>
                <a:latin typeface="Arial" panose="020B0604020202020204" pitchFamily="34" charset="0"/>
              </a:rPr>
              <a:t>CONCLUSÕES</a:t>
            </a:r>
          </a:p>
        </p:txBody>
      </p:sp>
      <p:sp>
        <p:nvSpPr>
          <p:cNvPr id="2065" name="Rectangle 1076">
            <a:extLst>
              <a:ext uri="{FF2B5EF4-FFF2-40B4-BE49-F238E27FC236}">
                <a16:creationId xmlns:a16="http://schemas.microsoft.com/office/drawing/2014/main" id="{24631BC1-3CE5-CC08-AD8E-A292C7142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5984875"/>
            <a:ext cx="13004800" cy="5473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9888" tIns="134944" rIns="269888" bIns="134944" anchor="t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pt-BR" sz="2600" dirty="0">
                <a:latin typeface="Arial"/>
                <a:cs typeface="Arial"/>
              </a:rPr>
              <a:t>O projeto consiste no desenvolvimento de um aplicativo web para a gestão de consultórios médicos denominado “</a:t>
            </a:r>
            <a:r>
              <a:rPr lang="pt-BR" sz="2600" dirty="0" err="1">
                <a:latin typeface="Arial"/>
                <a:cs typeface="Arial"/>
              </a:rPr>
              <a:t>MedGestor</a:t>
            </a:r>
            <a:r>
              <a:rPr lang="pt-BR" sz="2600" dirty="0">
                <a:latin typeface="Arial"/>
                <a:cs typeface="Arial"/>
              </a:rPr>
              <a:t>”. </a:t>
            </a:r>
          </a:p>
          <a:p>
            <a:pPr algn="just"/>
            <a:r>
              <a:rPr lang="pt-BR" sz="2600" dirty="0">
                <a:latin typeface="Arial"/>
                <a:cs typeface="Arial"/>
              </a:rPr>
              <a:t>A maioria dos consultórios médicos utiliza processos manuais ou </a:t>
            </a:r>
            <a:r>
              <a:rPr lang="pt-BR" sz="2600" dirty="0" err="1">
                <a:latin typeface="Arial"/>
                <a:cs typeface="Arial"/>
              </a:rPr>
              <a:t>semi-manuais</a:t>
            </a:r>
            <a:r>
              <a:rPr lang="pt-BR" sz="2600" dirty="0">
                <a:latin typeface="Arial"/>
                <a:cs typeface="Arial"/>
              </a:rPr>
              <a:t> (agendas em papel, planilhas, fichas impressas e receitas manuscritas), gerando problemas recorrentes como: agendamentos conflitantes, dificuldade de acesso ao histórico dos pacientes, receitas sem padronização, além de baixa segurança no armazenamento de dados sensíveis. </a:t>
            </a:r>
          </a:p>
          <a:p>
            <a:pPr algn="just"/>
            <a:r>
              <a:rPr lang="pt-BR" sz="2600" dirty="0">
                <a:latin typeface="Arial"/>
                <a:cs typeface="Arial"/>
              </a:rPr>
              <a:t>Um sistema centralizado e seguro permite reduzir significativamente erros humanos, otimizar o tempo e garantir conformidade com boas práticas de proteção de dados médicos (LGPD). </a:t>
            </a:r>
          </a:p>
          <a:p>
            <a:pPr algn="just"/>
            <a:r>
              <a:rPr lang="pt-BR" sz="2600" dirty="0">
                <a:latin typeface="Arial"/>
                <a:cs typeface="Arial"/>
              </a:rPr>
              <a:t>O projeto tem como objetivo principal propor e implementar uma solução digital para a gestão de consultórios médicos, atendendo a uma necessidade real identificada em diversos estabelecimentos de saúde.</a:t>
            </a:r>
            <a:endParaRPr lang="pt-BR" sz="2600" dirty="0">
              <a:latin typeface="Arial"/>
              <a:cs typeface="Times New Roman"/>
            </a:endParaRPr>
          </a:p>
        </p:txBody>
      </p:sp>
      <p:sp>
        <p:nvSpPr>
          <p:cNvPr id="2066" name="Rectangle 1091">
            <a:extLst>
              <a:ext uri="{FF2B5EF4-FFF2-40B4-BE49-F238E27FC236}">
                <a16:creationId xmlns:a16="http://schemas.microsoft.com/office/drawing/2014/main" id="{E7F699FC-D747-C26F-B5AA-3CB17A1D4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5288" y="11831638"/>
            <a:ext cx="13004800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9888" tIns="134944" rIns="269888" bIns="134944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pt-BR" altLang="pt-BR" sz="26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2067" name="Rectangle 1588">
            <a:extLst>
              <a:ext uri="{FF2B5EF4-FFF2-40B4-BE49-F238E27FC236}">
                <a16:creationId xmlns:a16="http://schemas.microsoft.com/office/drawing/2014/main" id="{1AFCA42B-9341-6FDB-8CC4-A56AAC04D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314063"/>
            <a:ext cx="2880360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9888" tIns="134944" rIns="269888" bIns="134944">
            <a:spAutoFit/>
          </a:bodyPr>
          <a:lstStyle>
            <a:lvl1pPr defTabSz="2698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2698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2698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2698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2698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26987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26987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26987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26987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pt-BR" sz="350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altLang="pt-BR" sz="3500">
              <a:cs typeface="Times New Roman" panose="02020603050405020304" pitchFamily="18" charset="0"/>
            </a:endParaRPr>
          </a:p>
          <a:p>
            <a:endParaRPr lang="en-US" altLang="pt-BR" sz="7100"/>
          </a:p>
        </p:txBody>
      </p:sp>
      <p:sp>
        <p:nvSpPr>
          <p:cNvPr id="2068" name="Rectangle 3680">
            <a:extLst>
              <a:ext uri="{FF2B5EF4-FFF2-40B4-BE49-F238E27FC236}">
                <a16:creationId xmlns:a16="http://schemas.microsoft.com/office/drawing/2014/main" id="{4F49F6EB-3CAC-A777-DC17-1B0BB1A33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5388" y="29343497"/>
            <a:ext cx="12401550" cy="2273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9888" tIns="134944" rIns="269888" bIns="134944" anchor="t">
            <a:spAutoFit/>
          </a:bodyPr>
          <a:lstStyle>
            <a:lvl1pPr indent="3302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pt-BR" altLang="pt-BR" sz="2600" dirty="0">
                <a:latin typeface="Arial"/>
                <a:cs typeface="Arial"/>
              </a:rPr>
              <a:t>O objetivo de desenvolver uma aplicação para gerenciamento de consultórios médicos capaz de organizar agendamentos, consultas e prontuários com histórico médico digitalmente foi alcançado. Durante o processo tive a oportunidade de aprender sobre arquitetura, conteinerização, orquestração, segurança e como aplicar esses conceitos em uma aplicação real.</a:t>
            </a:r>
            <a:endParaRPr lang="pt-BR" sz="2600" dirty="0">
              <a:latin typeface="Arial"/>
              <a:cs typeface="Arial"/>
            </a:endParaRPr>
          </a:p>
        </p:txBody>
      </p:sp>
      <p:sp>
        <p:nvSpPr>
          <p:cNvPr id="2069" name="Text Box 957">
            <a:extLst>
              <a:ext uri="{FF2B5EF4-FFF2-40B4-BE49-F238E27FC236}">
                <a16:creationId xmlns:a16="http://schemas.microsoft.com/office/drawing/2014/main" id="{54567DFB-5299-2525-7814-29541BD8F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5466" y="31647753"/>
            <a:ext cx="691515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300" b="1" dirty="0">
                <a:solidFill>
                  <a:srgbClr val="C00000"/>
                </a:solidFill>
                <a:latin typeface="Arial" panose="020B0604020202020204" pitchFamily="34" charset="0"/>
              </a:rPr>
              <a:t>REFERÊNCIAS</a:t>
            </a:r>
          </a:p>
        </p:txBody>
      </p:sp>
      <p:sp>
        <p:nvSpPr>
          <p:cNvPr id="2070" name="Rectangle 11">
            <a:extLst>
              <a:ext uri="{FF2B5EF4-FFF2-40B4-BE49-F238E27FC236}">
                <a16:creationId xmlns:a16="http://schemas.microsoft.com/office/drawing/2014/main" id="{4FC1D2A1-7824-6EAC-A375-F7032DC8E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926463"/>
            <a:ext cx="28803600" cy="261937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>
              <a:solidFill>
                <a:srgbClr val="C00000"/>
              </a:solidFill>
            </a:endParaRPr>
          </a:p>
        </p:txBody>
      </p:sp>
      <p:sp>
        <p:nvSpPr>
          <p:cNvPr id="2071" name="Text Box 3655">
            <a:extLst>
              <a:ext uri="{FF2B5EF4-FFF2-40B4-BE49-F238E27FC236}">
                <a16:creationId xmlns:a16="http://schemas.microsoft.com/office/drawing/2014/main" id="{F2D6CCAB-20A4-F26D-4950-8DFEF2273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575" y="17442432"/>
            <a:ext cx="115252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>
            <a:lvl1pPr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pt-BR" altLang="pt-BR" sz="2000" dirty="0">
                <a:latin typeface="Arial"/>
                <a:cs typeface="Arial"/>
              </a:rPr>
              <a:t>Figura 1 –  Principais Caso de Uso da aplicação (Agendamento e Consulta Médica).</a:t>
            </a:r>
            <a:endParaRPr lang="pt-BR" altLang="pt-BR" sz="2000" b="1" dirty="0">
              <a:latin typeface="Arial"/>
              <a:cs typeface="Arial"/>
            </a:endParaRPr>
          </a:p>
        </p:txBody>
      </p:sp>
      <p:pic>
        <p:nvPicPr>
          <p:cNvPr id="2072" name="Imagem 64" descr="logo catolica.jpg">
            <a:extLst>
              <a:ext uri="{FF2B5EF4-FFF2-40B4-BE49-F238E27FC236}">
                <a16:creationId xmlns:a16="http://schemas.microsoft.com/office/drawing/2014/main" id="{7F5A3831-1A8C-40FB-8111-29CA0E652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1023938"/>
            <a:ext cx="7440612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" name="Text Box 3655">
            <a:extLst>
              <a:ext uri="{FF2B5EF4-FFF2-40B4-BE49-F238E27FC236}">
                <a16:creationId xmlns:a16="http://schemas.microsoft.com/office/drawing/2014/main" id="{2434127B-8540-684C-6766-25E1D636A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42528" y="15373945"/>
            <a:ext cx="92741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>
            <a:lvl1pPr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pt-BR" altLang="pt-BR" sz="2000" dirty="0">
                <a:latin typeface="Arial"/>
                <a:cs typeface="Arial"/>
              </a:rPr>
              <a:t>Figura 3 – Tela principal de agendamento de consultas</a:t>
            </a:r>
            <a:endParaRPr lang="pt-BR" alt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4" name="Rectangle 61">
            <a:extLst>
              <a:ext uri="{FF2B5EF4-FFF2-40B4-BE49-F238E27FC236}">
                <a16:creationId xmlns:a16="http://schemas.microsoft.com/office/drawing/2014/main" id="{57ED144C-F825-91DE-8F14-4F6B3A43E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73038"/>
            <a:ext cx="169863" cy="346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4216" tIns="42108" rIns="84216" bIns="42108" anchor="ctr">
            <a:spAutoFit/>
          </a:bodyPr>
          <a:lstStyle>
            <a:lvl1pPr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pt-BR" altLang="pt-BR"/>
          </a:p>
        </p:txBody>
      </p:sp>
      <p:sp>
        <p:nvSpPr>
          <p:cNvPr id="2075" name="Rectangle 1606">
            <a:extLst>
              <a:ext uri="{FF2B5EF4-FFF2-40B4-BE49-F238E27FC236}">
                <a16:creationId xmlns:a16="http://schemas.microsoft.com/office/drawing/2014/main" id="{643E0F86-B09F-9E6E-D0F2-C844CD2EA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4957" y="32293251"/>
            <a:ext cx="12459430" cy="181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69888" tIns="134944" rIns="269888" bIns="134944" anchor="t">
            <a:spAutoFit/>
          </a:bodyPr>
          <a:lstStyle/>
          <a:p>
            <a:pPr algn="just"/>
            <a:r>
              <a:rPr lang="pt-BR" altLang="pt-BR" sz="2000" dirty="0">
                <a:latin typeface="Arial"/>
                <a:cs typeface="Arial"/>
              </a:rPr>
              <a:t>Documentação oficial Node.js - </a:t>
            </a:r>
            <a:r>
              <a:rPr lang="pt-BR" altLang="pt-BR" sz="2000" dirty="0">
                <a:solidFill>
                  <a:srgbClr val="000099"/>
                </a:solidFill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https://nodejs.org/docs/latest/api/</a:t>
            </a:r>
            <a:endParaRPr lang="pt-BR" altLang="pt-BR" sz="2000" dirty="0">
              <a:solidFill>
                <a:srgbClr val="000099"/>
              </a:solidFill>
              <a:latin typeface="Arial"/>
              <a:cs typeface="Arial"/>
            </a:endParaRPr>
          </a:p>
          <a:p>
            <a:pPr algn="just"/>
            <a:r>
              <a:rPr lang="pt-BR" altLang="pt-BR" sz="2000" dirty="0">
                <a:latin typeface="Arial"/>
                <a:cs typeface="Arial"/>
              </a:rPr>
              <a:t>Documentação oficial </a:t>
            </a:r>
            <a:r>
              <a:rPr lang="pt-BR" altLang="pt-BR" sz="2000" dirty="0" err="1">
                <a:latin typeface="Arial"/>
                <a:cs typeface="Arial"/>
              </a:rPr>
              <a:t>JavaScript</a:t>
            </a:r>
            <a:r>
              <a:rPr lang="pt-BR" altLang="pt-BR" sz="2000" dirty="0">
                <a:latin typeface="Arial"/>
                <a:cs typeface="Arial"/>
              </a:rPr>
              <a:t> - </a:t>
            </a:r>
            <a:r>
              <a:rPr lang="pt-BR" altLang="pt-BR" sz="2000" dirty="0">
                <a:solidFill>
                  <a:srgbClr val="000099"/>
                </a:solidFill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https://developer.mozilla.org/en-US/docs/Web/JavaScript</a:t>
            </a:r>
            <a:endParaRPr lang="pt-BR" altLang="pt-BR" sz="2000" dirty="0">
              <a:solidFill>
                <a:srgbClr val="000099"/>
              </a:solidFill>
              <a:latin typeface="Arial"/>
              <a:cs typeface="Arial"/>
            </a:endParaRPr>
          </a:p>
          <a:p>
            <a:pPr algn="just"/>
            <a:r>
              <a:rPr lang="pt-BR" altLang="pt-BR" sz="2000" dirty="0">
                <a:latin typeface="Arial"/>
                <a:cs typeface="Arial"/>
              </a:rPr>
              <a:t>Documentação oficial Docker - </a:t>
            </a:r>
            <a:r>
              <a:rPr lang="pt-BR" altLang="pt-BR" sz="2000" dirty="0">
                <a:solidFill>
                  <a:srgbClr val="000099"/>
                </a:solidFill>
                <a:latin typeface="Arial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https://docs.docker.com/manuals/</a:t>
            </a:r>
            <a:endParaRPr lang="pt-BR" altLang="pt-BR" sz="2000" dirty="0">
              <a:latin typeface="Arial"/>
              <a:cs typeface="Arial"/>
            </a:endParaRPr>
          </a:p>
          <a:p>
            <a:pPr algn="just"/>
            <a:r>
              <a:rPr lang="pt-BR" altLang="pt-BR" sz="2000" dirty="0">
                <a:latin typeface="Arial"/>
                <a:cs typeface="Arial"/>
              </a:rPr>
              <a:t>Documentação oficial </a:t>
            </a:r>
            <a:r>
              <a:rPr lang="pt-BR" altLang="pt-BR" sz="2000" dirty="0" err="1">
                <a:latin typeface="Arial"/>
                <a:cs typeface="Arial"/>
              </a:rPr>
              <a:t>React</a:t>
            </a:r>
            <a:r>
              <a:rPr lang="pt-BR" altLang="pt-BR" sz="2000" dirty="0">
                <a:latin typeface="Arial"/>
                <a:cs typeface="Arial"/>
              </a:rPr>
              <a:t> - </a:t>
            </a:r>
            <a:r>
              <a:rPr lang="pt-BR" altLang="pt-BR" sz="2000" dirty="0">
                <a:solidFill>
                  <a:srgbClr val="000099"/>
                </a:solidFill>
                <a:latin typeface="Arial"/>
                <a:cs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</a:t>
            </a:r>
            <a:endParaRPr lang="pt-BR" altLang="pt-BR" sz="2000" dirty="0">
              <a:solidFill>
                <a:srgbClr val="000099"/>
              </a:solidFill>
              <a:latin typeface="Arial"/>
              <a:cs typeface="Arial"/>
            </a:endParaRPr>
          </a:p>
          <a:p>
            <a:pPr algn="just"/>
            <a:endParaRPr lang="pt-BR" altLang="pt-BR" sz="2000" dirty="0">
              <a:solidFill>
                <a:srgbClr val="000099"/>
              </a:solidFill>
              <a:latin typeface="Arial"/>
              <a:cs typeface="Arial"/>
            </a:endParaRPr>
          </a:p>
        </p:txBody>
      </p:sp>
      <p:sp>
        <p:nvSpPr>
          <p:cNvPr id="2076" name="Rectangle 1091">
            <a:extLst>
              <a:ext uri="{FF2B5EF4-FFF2-40B4-BE49-F238E27FC236}">
                <a16:creationId xmlns:a16="http://schemas.microsoft.com/office/drawing/2014/main" id="{6875A51A-E897-DF6F-79BC-BBD34D849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2863" y="12177713"/>
            <a:ext cx="13288962" cy="507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9888" tIns="134944" rIns="269888" bIns="134944" anchor="t">
            <a:spAutoFit/>
          </a:bodyPr>
          <a:lstStyle>
            <a:lvl1pPr indent="3302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pt-BR" altLang="pt-BR" sz="2600" dirty="0">
                <a:latin typeface="Arial"/>
                <a:cs typeface="Arial"/>
              </a:rPr>
              <a:t>Tecnologias Utilizadas:</a:t>
            </a:r>
          </a:p>
          <a:p>
            <a:pPr marL="457200" indent="-457200" algn="just">
              <a:buFontTx/>
              <a:buChar char="-"/>
            </a:pPr>
            <a:r>
              <a:rPr lang="pt-BR" altLang="pt-BR" sz="2600" dirty="0" err="1">
                <a:latin typeface="Arial"/>
                <a:cs typeface="Arial"/>
              </a:rPr>
              <a:t>Backend</a:t>
            </a:r>
            <a:r>
              <a:rPr lang="pt-BR" altLang="pt-BR" sz="2600" dirty="0">
                <a:latin typeface="Arial"/>
                <a:cs typeface="Arial"/>
              </a:rPr>
              <a:t>: Node.js 20.14.0, Express.js, </a:t>
            </a:r>
            <a:r>
              <a:rPr lang="pt-BR" altLang="pt-BR" sz="2600" dirty="0" err="1">
                <a:latin typeface="Arial"/>
                <a:cs typeface="Arial"/>
              </a:rPr>
              <a:t>Sequelize</a:t>
            </a:r>
            <a:r>
              <a:rPr lang="pt-BR" altLang="pt-BR" sz="2600" dirty="0">
                <a:latin typeface="Arial"/>
                <a:cs typeface="Arial"/>
              </a:rPr>
              <a:t> ORM (PostgreSQL 17), JWT + </a:t>
            </a:r>
            <a:r>
              <a:rPr lang="pt-BR" altLang="pt-BR" sz="2600" dirty="0" err="1">
                <a:latin typeface="Arial"/>
                <a:cs typeface="Arial"/>
              </a:rPr>
              <a:t>bcryptjs</a:t>
            </a:r>
            <a:r>
              <a:rPr lang="pt-BR" altLang="pt-BR" sz="2600" dirty="0">
                <a:latin typeface="Arial"/>
                <a:cs typeface="Arial"/>
              </a:rPr>
              <a:t> (autenticação), </a:t>
            </a:r>
            <a:r>
              <a:rPr lang="pt-BR" altLang="pt-BR" sz="2600" dirty="0" err="1">
                <a:latin typeface="Arial"/>
                <a:cs typeface="Arial"/>
              </a:rPr>
              <a:t>Joi</a:t>
            </a:r>
            <a:r>
              <a:rPr lang="pt-BR" altLang="pt-BR" sz="2600" dirty="0">
                <a:latin typeface="Arial"/>
                <a:cs typeface="Arial"/>
              </a:rPr>
              <a:t> (validação), UUID</a:t>
            </a:r>
          </a:p>
          <a:p>
            <a:pPr marL="457200" indent="-457200" algn="just">
              <a:buFontTx/>
              <a:buChar char="-"/>
            </a:pPr>
            <a:r>
              <a:rPr lang="pt-BR" altLang="pt-BR" sz="2600" dirty="0" err="1">
                <a:latin typeface="Arial"/>
                <a:cs typeface="Arial"/>
              </a:rPr>
              <a:t>Frontend</a:t>
            </a:r>
            <a:r>
              <a:rPr lang="pt-BR" altLang="pt-BR" sz="2600" dirty="0">
                <a:latin typeface="Arial"/>
                <a:cs typeface="Arial"/>
              </a:rPr>
              <a:t>: </a:t>
            </a:r>
            <a:r>
              <a:rPr lang="pt-BR" altLang="pt-BR" sz="2600" dirty="0" err="1">
                <a:latin typeface="Arial"/>
                <a:cs typeface="Arial"/>
              </a:rPr>
              <a:t>React</a:t>
            </a:r>
            <a:r>
              <a:rPr lang="pt-BR" altLang="pt-BR" sz="2600" dirty="0">
                <a:latin typeface="Arial"/>
                <a:cs typeface="Arial"/>
              </a:rPr>
              <a:t> 18, </a:t>
            </a:r>
            <a:r>
              <a:rPr lang="pt-BR" altLang="pt-BR" sz="2600" dirty="0" err="1">
                <a:latin typeface="Arial"/>
                <a:cs typeface="Arial"/>
              </a:rPr>
              <a:t>Tailwind</a:t>
            </a:r>
            <a:r>
              <a:rPr lang="pt-BR" altLang="pt-BR" sz="2600" dirty="0">
                <a:latin typeface="Arial"/>
                <a:cs typeface="Arial"/>
              </a:rPr>
              <a:t> CSS, </a:t>
            </a:r>
            <a:r>
              <a:rPr lang="pt-BR" altLang="pt-BR" sz="2600" dirty="0" err="1">
                <a:latin typeface="Arial"/>
                <a:cs typeface="Arial"/>
              </a:rPr>
              <a:t>React</a:t>
            </a:r>
            <a:r>
              <a:rPr lang="pt-BR" altLang="pt-BR" sz="2600" dirty="0">
                <a:latin typeface="Arial"/>
                <a:cs typeface="Arial"/>
              </a:rPr>
              <a:t> </a:t>
            </a:r>
            <a:r>
              <a:rPr lang="pt-BR" altLang="pt-BR" sz="2600" dirty="0" err="1">
                <a:latin typeface="Arial"/>
                <a:cs typeface="Arial"/>
              </a:rPr>
              <a:t>Router</a:t>
            </a:r>
            <a:r>
              <a:rPr lang="pt-BR" altLang="pt-BR" sz="2600" dirty="0">
                <a:latin typeface="Arial"/>
                <a:cs typeface="Arial"/>
              </a:rPr>
              <a:t> DOM, </a:t>
            </a:r>
            <a:r>
              <a:rPr lang="pt-BR" altLang="pt-BR" sz="2600" dirty="0" err="1">
                <a:latin typeface="Arial"/>
                <a:cs typeface="Arial"/>
              </a:rPr>
              <a:t>Axios</a:t>
            </a:r>
            <a:r>
              <a:rPr lang="pt-BR" altLang="pt-BR" sz="2600" dirty="0">
                <a:latin typeface="Arial"/>
                <a:cs typeface="Arial"/>
              </a:rPr>
              <a:t>, </a:t>
            </a:r>
            <a:r>
              <a:rPr lang="pt-BR" altLang="pt-BR" sz="2600" dirty="0" err="1">
                <a:latin typeface="Arial"/>
                <a:cs typeface="Arial"/>
              </a:rPr>
              <a:t>Webpack</a:t>
            </a:r>
            <a:r>
              <a:rPr lang="pt-BR" altLang="pt-BR" sz="2600" dirty="0">
                <a:latin typeface="Arial"/>
                <a:cs typeface="Arial"/>
              </a:rPr>
              <a:t> + </a:t>
            </a:r>
            <a:r>
              <a:rPr lang="pt-BR" altLang="pt-BR" sz="2600" dirty="0" err="1">
                <a:latin typeface="Arial"/>
                <a:cs typeface="Arial"/>
              </a:rPr>
              <a:t>Nginx</a:t>
            </a:r>
            <a:endParaRPr lang="pt-BR" altLang="pt-BR" sz="2600" dirty="0">
              <a:latin typeface="Arial"/>
              <a:cs typeface="Arial"/>
            </a:endParaRPr>
          </a:p>
          <a:p>
            <a:pPr marL="457200" indent="-457200" algn="just">
              <a:buFontTx/>
              <a:buChar char="-"/>
            </a:pPr>
            <a:r>
              <a:rPr lang="pt-BR" altLang="pt-BR" sz="2600" dirty="0">
                <a:latin typeface="Arial"/>
                <a:cs typeface="Arial"/>
              </a:rPr>
              <a:t>Banco de Dados: PostgreSQL 17 (hospedado no Render)</a:t>
            </a:r>
          </a:p>
          <a:p>
            <a:pPr marL="457200" indent="-457200" algn="just">
              <a:buFontTx/>
              <a:buChar char="-"/>
            </a:pPr>
            <a:r>
              <a:rPr lang="pt-BR" altLang="pt-BR" sz="2600" dirty="0">
                <a:latin typeface="Arial"/>
                <a:cs typeface="Arial"/>
              </a:rPr>
              <a:t>Testes: </a:t>
            </a:r>
            <a:r>
              <a:rPr lang="pt-BR" altLang="pt-BR" sz="2600" dirty="0" err="1">
                <a:latin typeface="Arial"/>
                <a:cs typeface="Arial"/>
              </a:rPr>
              <a:t>Jest</a:t>
            </a:r>
            <a:r>
              <a:rPr lang="pt-BR" altLang="pt-BR" sz="2600" dirty="0">
                <a:latin typeface="Arial"/>
                <a:cs typeface="Arial"/>
              </a:rPr>
              <a:t> + </a:t>
            </a:r>
            <a:r>
              <a:rPr lang="pt-BR" altLang="pt-BR" sz="2600" dirty="0" err="1">
                <a:latin typeface="Arial"/>
                <a:cs typeface="Arial"/>
              </a:rPr>
              <a:t>Supertest</a:t>
            </a:r>
            <a:r>
              <a:rPr lang="pt-BR" altLang="pt-BR" sz="2600" dirty="0">
                <a:latin typeface="Arial"/>
                <a:cs typeface="Arial"/>
              </a:rPr>
              <a:t> (cobertura &gt; 80%)</a:t>
            </a:r>
          </a:p>
          <a:p>
            <a:pPr marL="457200" indent="-457200" algn="just">
              <a:buFontTx/>
              <a:buChar char="-"/>
            </a:pPr>
            <a:r>
              <a:rPr lang="pt-BR" altLang="pt-BR" sz="2600" dirty="0">
                <a:latin typeface="Arial"/>
                <a:cs typeface="Arial"/>
              </a:rPr>
              <a:t>Infraestrutura e </a:t>
            </a:r>
            <a:r>
              <a:rPr lang="pt-BR" altLang="pt-BR" sz="2600" dirty="0" err="1">
                <a:latin typeface="Arial"/>
                <a:cs typeface="Arial"/>
              </a:rPr>
              <a:t>DevOps</a:t>
            </a:r>
            <a:r>
              <a:rPr lang="pt-BR" altLang="pt-BR" sz="2600" dirty="0">
                <a:latin typeface="Arial"/>
                <a:cs typeface="Arial"/>
              </a:rPr>
              <a:t>: Docker + Docker </a:t>
            </a:r>
            <a:r>
              <a:rPr lang="pt-BR" altLang="pt-BR" sz="2600" dirty="0" err="1">
                <a:latin typeface="Arial"/>
                <a:cs typeface="Arial"/>
              </a:rPr>
              <a:t>Compose</a:t>
            </a:r>
            <a:r>
              <a:rPr lang="pt-BR" altLang="pt-BR" sz="2600" dirty="0">
                <a:latin typeface="Arial"/>
                <a:cs typeface="Arial"/>
              </a:rPr>
              <a:t> (ambiente local), GitHub </a:t>
            </a:r>
            <a:r>
              <a:rPr lang="pt-BR" altLang="pt-BR" sz="2600" dirty="0" err="1">
                <a:latin typeface="Arial"/>
                <a:cs typeface="Arial"/>
              </a:rPr>
              <a:t>Actions</a:t>
            </a:r>
            <a:r>
              <a:rPr lang="pt-BR" altLang="pt-BR" sz="2600" dirty="0">
                <a:latin typeface="Arial"/>
                <a:cs typeface="Arial"/>
              </a:rPr>
              <a:t> (CI/CD), Render.com (</a:t>
            </a:r>
            <a:r>
              <a:rPr lang="pt-BR" altLang="pt-BR" sz="2600" dirty="0" err="1">
                <a:latin typeface="Arial"/>
                <a:cs typeface="Arial"/>
              </a:rPr>
              <a:t>deploy</a:t>
            </a:r>
            <a:r>
              <a:rPr lang="pt-BR" altLang="pt-BR" sz="2600" dirty="0">
                <a:latin typeface="Arial"/>
                <a:cs typeface="Arial"/>
              </a:rPr>
              <a:t> gratuito de </a:t>
            </a:r>
            <a:r>
              <a:rPr lang="pt-BR" altLang="pt-BR" sz="2600" dirty="0" err="1">
                <a:latin typeface="Arial"/>
                <a:cs typeface="Arial"/>
              </a:rPr>
              <a:t>backend</a:t>
            </a:r>
            <a:r>
              <a:rPr lang="pt-BR" altLang="pt-BR" sz="2600" dirty="0">
                <a:latin typeface="Arial"/>
                <a:cs typeface="Arial"/>
              </a:rPr>
              <a:t> e </a:t>
            </a:r>
            <a:r>
              <a:rPr lang="pt-BR" altLang="pt-BR" sz="2600" dirty="0" err="1">
                <a:latin typeface="Arial"/>
                <a:cs typeface="Arial"/>
              </a:rPr>
              <a:t>frontend</a:t>
            </a:r>
            <a:r>
              <a:rPr lang="pt-BR" altLang="pt-BR" sz="2600" dirty="0">
                <a:latin typeface="Arial"/>
                <a:cs typeface="Arial"/>
              </a:rPr>
              <a:t>)</a:t>
            </a:r>
          </a:p>
          <a:p>
            <a:pPr marL="457200" indent="-457200" algn="just">
              <a:buFontTx/>
              <a:buChar char="-"/>
            </a:pPr>
            <a:r>
              <a:rPr lang="pt-BR" altLang="pt-BR" sz="2600" dirty="0">
                <a:latin typeface="Arial"/>
                <a:cs typeface="Arial"/>
              </a:rPr>
              <a:t>Outras ferramentas: </a:t>
            </a:r>
            <a:r>
              <a:rPr lang="pt-BR" altLang="pt-BR" sz="2600" dirty="0" err="1">
                <a:latin typeface="Arial"/>
                <a:cs typeface="Arial"/>
              </a:rPr>
              <a:t>Sequelize</a:t>
            </a:r>
            <a:r>
              <a:rPr lang="pt-BR" altLang="pt-BR" sz="2600" dirty="0">
                <a:latin typeface="Arial"/>
                <a:cs typeface="Arial"/>
              </a:rPr>
              <a:t> CLI (migrações e </a:t>
            </a:r>
            <a:r>
              <a:rPr lang="pt-BR" altLang="pt-BR" sz="2600" dirty="0" err="1">
                <a:latin typeface="Arial"/>
                <a:cs typeface="Arial"/>
              </a:rPr>
              <a:t>seeds</a:t>
            </a:r>
            <a:r>
              <a:rPr lang="pt-BR" altLang="pt-BR" sz="2600" dirty="0">
                <a:latin typeface="Arial"/>
                <a:cs typeface="Arial"/>
              </a:rPr>
              <a:t>), </a:t>
            </a:r>
            <a:r>
              <a:rPr lang="pt-BR" altLang="pt-BR" sz="2600" dirty="0" err="1">
                <a:latin typeface="Arial"/>
                <a:cs typeface="Arial"/>
              </a:rPr>
              <a:t>Mermaid</a:t>
            </a:r>
            <a:r>
              <a:rPr lang="pt-BR" altLang="pt-BR" sz="2600" dirty="0">
                <a:latin typeface="Arial"/>
                <a:cs typeface="Arial"/>
              </a:rPr>
              <a:t> + </a:t>
            </a:r>
            <a:r>
              <a:rPr lang="pt-BR" altLang="pt-BR" sz="2600" dirty="0" err="1">
                <a:latin typeface="Arial"/>
                <a:cs typeface="Arial"/>
              </a:rPr>
              <a:t>PlantUML</a:t>
            </a:r>
            <a:r>
              <a:rPr lang="pt-BR" altLang="pt-BR" sz="2600" dirty="0">
                <a:latin typeface="Arial"/>
                <a:cs typeface="Arial"/>
              </a:rPr>
              <a:t> (diagramas).</a:t>
            </a:r>
          </a:p>
          <a:p>
            <a:pPr indent="0" algn="just"/>
            <a:r>
              <a:rPr lang="pt-BR" altLang="pt-BR" sz="2600" dirty="0">
                <a:latin typeface="Arial"/>
                <a:cs typeface="Arial"/>
              </a:rPr>
              <a:t>Abaixo segue o fluxo dos principais casos de uso da aplicação com a atividade de agendamento e a realização da consulta (Figura 1).</a:t>
            </a:r>
            <a:endParaRPr lang="pt-BR" alt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7" name="Rectangle 1606">
            <a:extLst>
              <a:ext uri="{FF2B5EF4-FFF2-40B4-BE49-F238E27FC236}">
                <a16:creationId xmlns:a16="http://schemas.microsoft.com/office/drawing/2014/main" id="{40588F1A-C866-6213-196B-B437C0266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663" y="22902863"/>
            <a:ext cx="13185775" cy="2273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9888" tIns="134944" rIns="269888" bIns="134944" anchor="t">
            <a:spAutoFit/>
          </a:bodyPr>
          <a:lstStyle>
            <a:lvl1pPr indent="3302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pt-BR" sz="2600" dirty="0">
                <a:latin typeface="Arial"/>
                <a:cs typeface="Arial"/>
              </a:rPr>
              <a:t>Abaixo é demonstrado o fluxo geral de funcionamento da aplicação em produção real com o acesso do usuário no </a:t>
            </a:r>
            <a:r>
              <a:rPr lang="pt-BR" sz="2600" dirty="0" err="1">
                <a:latin typeface="Arial"/>
                <a:cs typeface="Arial"/>
              </a:rPr>
              <a:t>frontend</a:t>
            </a:r>
            <a:r>
              <a:rPr lang="pt-BR" sz="2600" dirty="0">
                <a:latin typeface="Arial"/>
                <a:cs typeface="Arial"/>
              </a:rPr>
              <a:t> da aplicação, posteriormente as requisições são realizadas ao </a:t>
            </a:r>
            <a:r>
              <a:rPr lang="pt-BR" sz="2600" dirty="0" err="1">
                <a:latin typeface="Arial"/>
                <a:cs typeface="Arial"/>
              </a:rPr>
              <a:t>backend</a:t>
            </a:r>
            <a:r>
              <a:rPr lang="pt-BR" sz="2600" dirty="0">
                <a:latin typeface="Arial"/>
                <a:cs typeface="Arial"/>
              </a:rPr>
              <a:t> com validações de autenticidade com JWT e permissões com níveis de liberação de acordo com a função do usuário, em seguida é realizado o acesso ao banco de dados para consulta ou inserção das informações (Figura 2).</a:t>
            </a:r>
            <a:endParaRPr lang="pt-BR" altLang="pt-BR" sz="2600" dirty="0">
              <a:latin typeface="Arial"/>
              <a:cs typeface="Arial"/>
            </a:endParaRPr>
          </a:p>
        </p:txBody>
      </p:sp>
      <p:sp>
        <p:nvSpPr>
          <p:cNvPr id="2078" name="Text Box 3655">
            <a:extLst>
              <a:ext uri="{FF2B5EF4-FFF2-40B4-BE49-F238E27FC236}">
                <a16:creationId xmlns:a16="http://schemas.microsoft.com/office/drawing/2014/main" id="{38617E8D-4E72-1A95-0802-F7A7A2A5D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962" y="25273796"/>
            <a:ext cx="92741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>
            <a:lvl1pPr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pt-BR" altLang="pt-BR" sz="2000" dirty="0">
                <a:latin typeface="Arial"/>
                <a:cs typeface="Arial"/>
              </a:rPr>
              <a:t>Figura 2 – Arquitetura geral da aplicação</a:t>
            </a:r>
            <a:endParaRPr lang="pt-BR" alt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9" name="Text Box 3354">
            <a:extLst>
              <a:ext uri="{FF2B5EF4-FFF2-40B4-BE49-F238E27FC236}">
                <a16:creationId xmlns:a16="http://schemas.microsoft.com/office/drawing/2014/main" id="{4E3C3EA6-E7E2-1A33-0916-DE748636B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95775" y="5197475"/>
            <a:ext cx="8742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>
            <a:lvl1pPr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1188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1188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300" b="1" dirty="0">
                <a:solidFill>
                  <a:srgbClr val="C00000"/>
                </a:solidFill>
                <a:latin typeface="Arial"/>
                <a:cs typeface="Arial"/>
              </a:rPr>
              <a:t>RESULTADOS </a:t>
            </a:r>
          </a:p>
        </p:txBody>
      </p:sp>
      <p:sp>
        <p:nvSpPr>
          <p:cNvPr id="2080" name="Rectangle 3678">
            <a:extLst>
              <a:ext uri="{FF2B5EF4-FFF2-40B4-BE49-F238E27FC236}">
                <a16:creationId xmlns:a16="http://schemas.microsoft.com/office/drawing/2014/main" id="{67F8BF69-CA47-9D68-F603-97FBC0963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2532" y="22214705"/>
            <a:ext cx="12558712" cy="2273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69888" tIns="134944" rIns="269888" bIns="134944" anchor="t">
            <a:spAutoFit/>
          </a:bodyPr>
          <a:lstStyle>
            <a:lvl1pPr indent="3302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pt-BR" sz="2600" dirty="0">
                <a:latin typeface="Arial"/>
                <a:cs typeface="Arial"/>
              </a:rPr>
              <a:t>Para acessar a aplicação aponte a câmera do seu celular para o QR </a:t>
            </a:r>
            <a:r>
              <a:rPr lang="pt-BR" sz="2600" dirty="0" err="1">
                <a:latin typeface="Arial"/>
                <a:cs typeface="Arial"/>
              </a:rPr>
              <a:t>Code</a:t>
            </a:r>
            <a:r>
              <a:rPr lang="pt-BR" sz="2600" dirty="0">
                <a:latin typeface="Arial"/>
                <a:cs typeface="Arial"/>
              </a:rPr>
              <a:t> abaixo Figura 4 e na tela de login utilize os dados a seguir para ter acesso e experimentar as funcionalidades completas da aplicação.</a:t>
            </a:r>
          </a:p>
          <a:p>
            <a:pPr algn="just"/>
            <a:r>
              <a:rPr lang="pt-BR" sz="2600" dirty="0">
                <a:latin typeface="Arial"/>
                <a:cs typeface="Arial"/>
              </a:rPr>
              <a:t>Usuário: </a:t>
            </a:r>
            <a:r>
              <a:rPr lang="pt-BR" sz="2600" dirty="0">
                <a:solidFill>
                  <a:schemeClr val="accent6"/>
                </a:solidFill>
                <a:latin typeface="Arial"/>
                <a:cs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secretary@medgestor.com</a:t>
            </a:r>
            <a:endParaRPr lang="pt-BR" sz="2600" dirty="0">
              <a:solidFill>
                <a:schemeClr val="accent6"/>
              </a:solidFill>
              <a:latin typeface="Arial"/>
              <a:cs typeface="Arial"/>
            </a:endParaRPr>
          </a:p>
          <a:p>
            <a:pPr algn="just"/>
            <a:r>
              <a:rPr lang="pt-BR" sz="2600" dirty="0">
                <a:latin typeface="Arial"/>
                <a:cs typeface="Arial"/>
              </a:rPr>
              <a:t>Senha: pass123</a:t>
            </a:r>
          </a:p>
        </p:txBody>
      </p:sp>
      <p:sp>
        <p:nvSpPr>
          <p:cNvPr id="2081" name="Rectangle 45">
            <a:extLst>
              <a:ext uri="{FF2B5EF4-FFF2-40B4-BE49-F238E27FC236}">
                <a16:creationId xmlns:a16="http://schemas.microsoft.com/office/drawing/2014/main" id="{78497288-49DB-0613-33E2-33EB7C1EE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803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pt-BR" altLang="pt-BR"/>
          </a:p>
        </p:txBody>
      </p:sp>
      <p:sp>
        <p:nvSpPr>
          <p:cNvPr id="5" name="Text Box 3655">
            <a:extLst>
              <a:ext uri="{FF2B5EF4-FFF2-40B4-BE49-F238E27FC236}">
                <a16:creationId xmlns:a16="http://schemas.microsoft.com/office/drawing/2014/main" id="{3FEC9E48-269F-9788-BB7B-69DFE4E79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9073" y="24490279"/>
            <a:ext cx="92741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spAutoFit/>
          </a:bodyPr>
          <a:lstStyle>
            <a:lvl1pPr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15950"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15950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pt-BR" altLang="pt-BR" sz="2000" dirty="0">
                <a:latin typeface="Arial"/>
                <a:cs typeface="Arial"/>
              </a:rPr>
              <a:t>Figura 4– QR </a:t>
            </a:r>
            <a:r>
              <a:rPr lang="pt-BR" altLang="pt-BR" sz="2000" dirty="0" err="1">
                <a:latin typeface="Arial"/>
                <a:cs typeface="Arial"/>
              </a:rPr>
              <a:t>Code</a:t>
            </a:r>
            <a:r>
              <a:rPr lang="pt-BR" altLang="pt-BR" sz="2000" dirty="0">
                <a:latin typeface="Arial"/>
                <a:cs typeface="Arial"/>
              </a:rPr>
              <a:t> para acesso a aplicação.</a:t>
            </a:r>
            <a:endParaRPr lang="pt-BR" alt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B6AEE97-B861-5618-0A6B-B17F0A9940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0950" y="17817223"/>
            <a:ext cx="9001125" cy="474345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F5B224C-37DE-14A9-154E-009C2C393E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00576" y="15754754"/>
            <a:ext cx="8243836" cy="6531959"/>
          </a:xfrm>
          <a:prstGeom prst="rect">
            <a:avLst/>
          </a:prstGeom>
        </p:spPr>
      </p:pic>
      <p:pic>
        <p:nvPicPr>
          <p:cNvPr id="19" name="Imagem 18" descr="Código QR&#10;&#10;O conteúdo gerado por IA pode estar incorreto.">
            <a:extLst>
              <a:ext uri="{FF2B5EF4-FFF2-40B4-BE49-F238E27FC236}">
                <a16:creationId xmlns:a16="http://schemas.microsoft.com/office/drawing/2014/main" id="{29018493-C969-F34B-F1C0-DE797579C5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4" t="33244" r="31162" b="15617"/>
          <a:stretch>
            <a:fillRect/>
          </a:stretch>
        </p:blipFill>
        <p:spPr>
          <a:xfrm>
            <a:off x="19833051" y="24704094"/>
            <a:ext cx="3066221" cy="414774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81EE3ED-8E46-6965-9E8E-B177A5F405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41114" y="25876736"/>
            <a:ext cx="8485869" cy="7920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presentação em branco">
  <a:themeElements>
    <a:clrScheme name="Apresentação em branc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presentação em branc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293052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293052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Apresentação em branc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presentação em branc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presentação em branc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presentação em branc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presentação em branc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presentação em branc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presentação em branc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4001</TotalTime>
  <Words>864</Words>
  <Application>Microsoft Office PowerPoint</Application>
  <PresentationFormat>Personalizar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Apresentação em branco</vt:lpstr>
      <vt:lpstr>Apresentação do PowerPoint</vt:lpstr>
    </vt:vector>
  </TitlesOfParts>
  <Company>Verran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Banner</dc:title>
  <dc:creator>Dalla Valentina</dc:creator>
  <cp:lastModifiedBy>THIAGO DE FREITAS SARAIVA</cp:lastModifiedBy>
  <cp:revision>457</cp:revision>
  <cp:lastPrinted>2004-11-22T18:36:17Z</cp:lastPrinted>
  <dcterms:created xsi:type="dcterms:W3CDTF">2004-11-18T16:43:55Z</dcterms:created>
  <dcterms:modified xsi:type="dcterms:W3CDTF">2025-11-20T23:26:19Z</dcterms:modified>
</cp:coreProperties>
</file>